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77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AN AFRICAN THUNDERSTORM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CEBE8"/>
                </a:solidFill>
                <a:latin typeface="Aptos"/>
              </a:defRPr>
            </a:pPr>
            <a:r>
              <a:t>Additional Poetry Lesson • David Rubadiri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49039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7755E"/>
                </a:solidFill>
              </a:defRPr>
            </a:pPr>
            <a:r>
              <a:t>Focus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Imagery • Vocabulary • Comprehension • Creative response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Pre-reading • During-reading • Pair post-reading • Reader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Designed as a Canva-style learner-facing lesson.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38"/>
                </a:solidFill>
                <a:latin typeface="Aptos Display"/>
              </a:rPr>
              <a:t>01  BEFORE WE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  <a:latin typeface="Aptos"/>
              </a:defRPr>
            </a:pPr>
            <a:r>
              <a:t>Pre-reading activity • Work with a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9728" cy="4251960"/>
          </a:xfrm>
          <a:prstGeom prst="rect">
            <a:avLst/>
          </a:prstGeom>
          <a:solidFill>
            <a:srgbClr val="3F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64792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LOOK AT THE TITLE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“An African Thunderstorm”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In your pair, discuss: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What happens during a thunderstorm?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What sounds do you hear?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How do people behave when a strong storm is approaching?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• What words would you use to describe a powerful storm?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3035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600200"/>
            <a:ext cx="109728" cy="4251960"/>
          </a:xfrm>
          <a:prstGeom prst="rect">
            <a:avLst/>
          </a:prstGeom>
          <a:solidFill>
            <a:srgbClr val="E77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764792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MAKE A PREDICTION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Write FIVE words that you think you will find in the poem.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Share your words with the class.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Then predict: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“What do you think will happen in the poem?”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I think the poem will describe ____________________________.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Teacher note: Activate prior knowledge and prepare learners for the poem’s imagery. (British Council, n.d.)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38"/>
                </a:solidFill>
                <a:latin typeface="Aptos Display"/>
              </a:rPr>
              <a:t>02  READ • FIND • EXPLAIN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  <a:latin typeface="Aptos"/>
              </a:defRPr>
            </a:pPr>
            <a:r>
              <a:t>During-reading activity • Read silently, then aloud with your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40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" cy="4526280"/>
          </a:xfrm>
          <a:prstGeom prst="rect">
            <a:avLst/>
          </a:prstGeom>
          <a:solidFill>
            <a:srgbClr val="3F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4983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VOCABULARY + IMAGERY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Complete the table in your workbook: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“plague of locusts” → meaning + picture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“pregnant clouds” → meaning + picture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“sinister dark wings” → meaning + picture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“tattered flags” → meaning + picture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“pelting march” → meaning + picture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109728" cy="4526280"/>
          </a:xfrm>
          <a:prstGeom prst="rect">
            <a:avLst/>
          </a:prstGeom>
          <a:solidFill>
            <a:srgbClr val="E77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81912"/>
            <a:ext cx="4892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THINK ABOUT THE POEM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1. Where is the storm coming from?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2. How do the children react?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3. How do the women react?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4. Find TWO examples of personification.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5. Find ONE simile and explain it.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6. What mood is created?</a:t>
            </a:r>
          </a:p>
          <a:p>
            <a:pPr>
              <a:spcAft>
                <a:spcPts val="4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7. Why are the images so powerful?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The poem uses vivid imagery to create the movement and atmosphere of the approaching storm. (Rubadiri, 1989)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38"/>
                </a:solidFill>
                <a:latin typeface="Aptos Display"/>
              </a:rPr>
              <a:t>03  BECOME THE POETS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  <a:latin typeface="Aptos"/>
              </a:defRPr>
            </a:pPr>
            <a:r>
              <a:t>Post-reading activity • Complete in pairs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6400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09728" cy="4480560"/>
          </a:xfrm>
          <a:prstGeom prst="rect">
            <a:avLst/>
          </a:prstGeom>
          <a:solidFill>
            <a:srgbClr val="3F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73351"/>
            <a:ext cx="5943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YOUR TASK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Imagine that you are standing in the village when the thunderstorm arrives.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Together, write a SIX-LINE poem called: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“THE STORM ARRIVES”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Your poem MUST include: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ONE simile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ONE example of personification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THREE descriptive adjectives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TWO sound words (e.g. crack, boom, rumble, whoosh)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ONE sentence describing how people react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4251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508760"/>
            <a:ext cx="109728" cy="4480560"/>
          </a:xfrm>
          <a:prstGeom prst="rect">
            <a:avLst/>
          </a:prstGeom>
          <a:solidFill>
            <a:srgbClr val="E77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673351"/>
            <a:ext cx="379476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SHARE YOUR POEM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1. Read your poem aloud to your partner.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2. Your partner identifies the simile and personification.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3. Practise reading with expression.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4. Two pairs volunteer to read to the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Creative writing gives learners opportunities to use vocabulary and literary techniques meaningfully. (British Council, n.d.)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2A38"/>
                </a:solidFill>
                <a:latin typeface="Aptos Display"/>
              </a:rPr>
              <a:t>04  SUPPORT FOR STRUGGLING READERS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078992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96969"/>
                </a:solidFill>
                <a:latin typeface="Aptos"/>
              </a:defRPr>
            </a:pPr>
            <a:r>
              <a:t>Word + image support • Read with a teacher or stronger reading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486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" cy="4526280"/>
          </a:xfrm>
          <a:prstGeom prst="rect">
            <a:avLst/>
          </a:prstGeom>
          <a:solidFill>
            <a:srgbClr val="3F9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81912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STEP 1 — GET READY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1. Read the poem together.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2. Circle words you do not understand.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3. Use the vocabulary box.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4. Match each word to its meaning.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LOCUSTS — insects that travel in large swarms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DIN — a very loud, unpleasant noise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DART — move suddenly and quickly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JAGGED — rough, sharp or uneven</a:t>
            </a:r>
          </a:p>
          <a:p>
            <a:pPr>
              <a:spcAft>
                <a:spcPts val="400"/>
              </a:spcAft>
              <a:defRPr sz="1300">
                <a:solidFill>
                  <a:srgbClr val="2D2D2D"/>
                </a:solidFill>
                <a:latin typeface="Aptos"/>
              </a:defRPr>
            </a:pPr>
            <a:r>
              <a:t>PELTING — hitting or falling heavily and repeatedly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109728" cy="4526280"/>
          </a:xfrm>
          <a:prstGeom prst="rect">
            <a:avLst/>
          </a:prstGeom>
          <a:solidFill>
            <a:srgbClr val="E77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581912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E2A38"/>
                </a:solidFill>
                <a:latin typeface="Aptos Display"/>
              </a:defRPr>
            </a:pPr>
            <a:r>
              <a:t>STEP 2 — READ WITH SUPPORT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5. Listen while the teacher reads.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6. Read each stanza aloud after the teacher.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7. Underline ONE sentence in each stanza that helps you understand what is happening.</a:t>
            </a:r>
          </a:p>
          <a:p>
            <a:pPr>
              <a:spcAft>
                <a:spcPts val="400"/>
              </a:spcAft>
              <a:defRPr sz="1500">
                <a:solidFill>
                  <a:srgbClr val="2D2D2D"/>
                </a:solidFill>
                <a:latin typeface="Aptos"/>
              </a:defRPr>
            </a:pPr>
            <a:r>
              <a:t>8. Discuss your answers with your partner before answering independently.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Scaffolding, oral modelling and peer support can help struggling readers participate in the same literary experience. (British Council, n.d.)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British Council. (n.d.). Using poems to develop receptive skills. TeachingEnglish.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British Council. (n.d.). Write on! – Creative writing as language practice. TeachingEnglish.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Paran, A. (2008). The role of literature in instructed foreign language learning and teaching: An evidence-based survey. Language Teaching, 41(4), 465–496.</a:t>
            </a:r>
          </a:p>
          <a:p>
            <a:pPr>
              <a:spcAft>
                <a:spcPts val="18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Rubadiri, D. (1989). An African thunderstorm. In D. Rubadiri (Ed.), Growing up with poetry: An anthology for secondary schools. Heinemann Educational Books.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Only sources cited/used in the lesson are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